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4870478" y="4044332"/>
          <a:ext cx="9508940" cy="2760311"/>
        </p:xfrm>
        <a:graphic>
          <a:graphicData uri="http://schemas.openxmlformats.org/drawingml/2006/table">
            <a:tbl>
              <a:tblPr/>
              <a:tblGrid>
                <a:gridCol w="2611536"/>
                <a:gridCol w="3942460"/>
                <a:gridCol w="2954945"/>
              </a:tblGrid>
              <a:tr h="10964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Branch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Registration no 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Name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38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CSE </a:t>
                      </a:r>
                      <a:endParaRPr lang="en-US" sz="1100"/>
                    </a:p>
                    <a:p>
                      <a:pPr algn="ctr">
                        <a:lnSpc>
                          <a:spcPts val="4480"/>
                        </a:lnSpc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(Ai and Ml)</a:t>
                      </a:r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25BAI11077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Shivansh Gupta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990597" y="1949840"/>
            <a:ext cx="15268703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b="true" sz="12000" spc="-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 Literacy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65424" y="2427294"/>
            <a:ext cx="4356944" cy="2693384"/>
          </a:xfrm>
          <a:custGeom>
            <a:avLst/>
            <a:gdLst/>
            <a:ahLst/>
            <a:cxnLst/>
            <a:rect r="r" b="b" t="t" l="l"/>
            <a:pathLst>
              <a:path h="2693384" w="4356944">
                <a:moveTo>
                  <a:pt x="0" y="0"/>
                </a:moveTo>
                <a:lnTo>
                  <a:pt x="4356944" y="0"/>
                </a:lnTo>
                <a:lnTo>
                  <a:pt x="4356944" y="2693383"/>
                </a:lnTo>
                <a:lnTo>
                  <a:pt x="0" y="2693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57491" y="5641470"/>
            <a:ext cx="2779312" cy="2979769"/>
          </a:xfrm>
          <a:custGeom>
            <a:avLst/>
            <a:gdLst/>
            <a:ahLst/>
            <a:cxnLst/>
            <a:rect r="r" b="b" t="t" l="l"/>
            <a:pathLst>
              <a:path h="2979769" w="2779312">
                <a:moveTo>
                  <a:pt x="0" y="0"/>
                </a:moveTo>
                <a:lnTo>
                  <a:pt x="2779312" y="0"/>
                </a:lnTo>
                <a:lnTo>
                  <a:pt x="2779312" y="2979769"/>
                </a:lnTo>
                <a:lnTo>
                  <a:pt x="0" y="297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54299" y="5558827"/>
            <a:ext cx="1936138" cy="3914984"/>
          </a:xfrm>
          <a:custGeom>
            <a:avLst/>
            <a:gdLst/>
            <a:ahLst/>
            <a:cxnLst/>
            <a:rect r="r" b="b" t="t" l="l"/>
            <a:pathLst>
              <a:path h="3914984" w="1936138">
                <a:moveTo>
                  <a:pt x="0" y="0"/>
                </a:moveTo>
                <a:lnTo>
                  <a:pt x="1936137" y="0"/>
                </a:lnTo>
                <a:lnTo>
                  <a:pt x="1936137" y="3914984"/>
                </a:lnTo>
                <a:lnTo>
                  <a:pt x="0" y="39149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80167" y="567270"/>
            <a:ext cx="14848305" cy="1425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0"/>
              </a:lnSpc>
            </a:pPr>
            <a:r>
              <a:rPr lang="en-US" b="true" sz="10400" spc="-5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digital literacy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132978"/>
            <a:ext cx="8489033" cy="690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967" indent="-426484" lvl="1">
              <a:lnSpc>
                <a:spcPts val="5531"/>
              </a:lnSpc>
              <a:buFont typeface="Arial"/>
              <a:buChar char="•"/>
            </a:pPr>
            <a:r>
              <a:rPr lang="en-US" b="true" sz="3950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Ability to use digital tools effectively.</a:t>
            </a:r>
          </a:p>
          <a:p>
            <a:pPr algn="l" marL="852967" indent="-426484" lvl="1">
              <a:lnSpc>
                <a:spcPts val="5531"/>
              </a:lnSpc>
              <a:buFont typeface="Arial"/>
              <a:buChar char="•"/>
            </a:pPr>
            <a:r>
              <a:rPr lang="en-US" b="true" sz="3950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Understanding online safety and security.</a:t>
            </a:r>
          </a:p>
          <a:p>
            <a:pPr algn="l" marL="852967" indent="-426484" lvl="1">
              <a:lnSpc>
                <a:spcPts val="5531"/>
              </a:lnSpc>
              <a:buFont typeface="Arial"/>
              <a:buChar char="•"/>
            </a:pPr>
            <a:r>
              <a:rPr lang="en-US" b="true" sz="3950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 , evaluating, and using information.</a:t>
            </a:r>
          </a:p>
          <a:p>
            <a:pPr algn="l" marL="852967" indent="-426484" lvl="1">
              <a:lnSpc>
                <a:spcPts val="5531"/>
              </a:lnSpc>
              <a:buFont typeface="Arial"/>
              <a:buChar char="•"/>
            </a:pPr>
            <a:r>
              <a:rPr lang="en-US" b="true" sz="3950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Communicating responsibly online.</a:t>
            </a:r>
          </a:p>
          <a:p>
            <a:pPr algn="l" marL="852967" indent="-426484" lvl="1">
              <a:lnSpc>
                <a:spcPts val="5531"/>
              </a:lnSpc>
              <a:buFont typeface="Arial"/>
              <a:buChar char="•"/>
            </a:pPr>
            <a:r>
              <a:rPr lang="en-US" b="true" sz="3950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Creating and sharing digital content.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32326" y="394308"/>
            <a:ext cx="15426974" cy="132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51"/>
              </a:lnSpc>
            </a:pPr>
            <a:r>
              <a:rPr lang="en-US" b="true" sz="9633" spc="-4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Safe internet practices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52657"/>
            <a:ext cx="19181625" cy="299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4543" spc="-22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Safe browsing</a:t>
            </a:r>
          </a:p>
          <a:p>
            <a:pPr algn="l">
              <a:lnSpc>
                <a:spcPts val="5725"/>
              </a:lnSpc>
            </a:pPr>
            <a:r>
              <a:rPr lang="en-US" sz="4089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Check website URLs before login </a:t>
            </a:r>
          </a:p>
          <a:p>
            <a:pPr algn="l">
              <a:lnSpc>
                <a:spcPts val="5726"/>
              </a:lnSpc>
            </a:pPr>
            <a:r>
              <a:rPr lang="en-US" sz="4090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clicking unknown/suspicious links</a:t>
            </a:r>
          </a:p>
          <a:p>
            <a:pPr algn="l">
              <a:lnSpc>
                <a:spcPts val="5725"/>
              </a:lnSpc>
              <a:spcBef>
                <a:spcPct val="0"/>
              </a:spcBef>
            </a:pPr>
            <a:r>
              <a:rPr lang="en-US" sz="4089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Download apps only from trusted sources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1395124" y="4514806"/>
            <a:ext cx="29467398" cy="268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56"/>
              </a:lnSpc>
            </a:pPr>
            <a:r>
              <a:rPr lang="en-US" b="true" sz="4540" spc="-22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 data Protection                       </a:t>
            </a:r>
          </a:p>
          <a:p>
            <a:pPr algn="r">
              <a:lnSpc>
                <a:spcPts val="4910"/>
              </a:lnSpc>
            </a:pPr>
            <a:r>
              <a:rPr lang="en-US" sz="3507" spc="-1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Never share OTP, passwords, or bank details</a:t>
            </a:r>
          </a:p>
          <a:p>
            <a:pPr algn="r">
              <a:lnSpc>
                <a:spcPts val="4910"/>
              </a:lnSpc>
            </a:pPr>
            <a:r>
              <a:rPr lang="en-US" sz="3507" spc="-1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Avoid posting personal info publicly                  </a:t>
            </a:r>
          </a:p>
          <a:p>
            <a:pPr algn="r">
              <a:lnSpc>
                <a:spcPts val="4910"/>
              </a:lnSpc>
              <a:spcBef>
                <a:spcPct val="0"/>
              </a:spcBef>
            </a:pPr>
            <a:r>
              <a:rPr lang="en-US" sz="3507" spc="-1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 careful while using public wi-fi                     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2704" y="6863709"/>
            <a:ext cx="19410824" cy="301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4598" spc="-22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Smart Behaviour</a:t>
            </a:r>
          </a:p>
          <a:p>
            <a:pPr algn="l">
              <a:lnSpc>
                <a:spcPts val="5722"/>
              </a:lnSpc>
            </a:pPr>
            <a:r>
              <a:rPr lang="en-US" sz="4087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Think before clicking or downloading </a:t>
            </a:r>
          </a:p>
          <a:p>
            <a:pPr algn="l">
              <a:lnSpc>
                <a:spcPts val="5722"/>
              </a:lnSpc>
            </a:pPr>
            <a:r>
              <a:rPr lang="en-US" sz="4087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Don't trust unknown emails or messages </a:t>
            </a:r>
          </a:p>
          <a:p>
            <a:pPr algn="l">
              <a:lnSpc>
                <a:spcPts val="5981"/>
              </a:lnSpc>
              <a:spcBef>
                <a:spcPct val="0"/>
              </a:spcBef>
            </a:pPr>
            <a:r>
              <a:rPr lang="en-US" sz="4272" spc="-2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 out from  shared/public devices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626465" y="490008"/>
            <a:ext cx="21540930" cy="120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8733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Professional Online Presence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8763" y="2082459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Profile and Identity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real name and clear identity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Keep a professional profile photo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Maintain a clean username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8763" y="5498945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Communication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formal email(e.g. college email)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Write clear and respectful messages 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slang in professional platforms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30123" y="8880157"/>
            <a:ext cx="14408845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 strong online presence builds credibility and career opportunities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413278" y="490008"/>
            <a:ext cx="21540930" cy="120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8733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Professional Online Presence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1163" y="2234859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Online Behaviour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Think before commenting or posting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offensive or controversial content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 respectful in discussions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1163" y="5651345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 Footprint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Everything online stays permanent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Employers may check your profiles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Maintain a positive online image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52764" y="8880157"/>
            <a:ext cx="14408845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 strong online presence builds credibility and career opportunities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413278" y="490008"/>
            <a:ext cx="21540930" cy="120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8733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Smart Digital Habits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1163" y="2234859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Awareness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Think before clicking links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Verify information before sharing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Stay alert to online scams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1163" y="5651345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Habits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Update passwords regularly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 privacy settings 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Keep apps and devices updated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6988" y="8880157"/>
            <a:ext cx="15240398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Good digital Habits ensure safety, productivity, and Long-term success.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260878" y="642408"/>
            <a:ext cx="21540930" cy="120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8733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Smart Digital Habits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3563" y="2387259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Responsible Usage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Manage screen time wisely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overuse of social media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technology productively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3563" y="5803745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Continuous learning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Stay updated with new technologies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Learn basic cyber security 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 digital skills regularly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89388" y="9032557"/>
            <a:ext cx="15240398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Good digital Habits ensure safety, productivity, and Long-term success.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6053972" y="171450"/>
            <a:ext cx="30019905" cy="167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62"/>
              </a:lnSpc>
            </a:pPr>
            <a:r>
              <a:rPr lang="en-US" b="true" sz="12171" spc="-60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3610" y="2113679"/>
            <a:ext cx="16031954" cy="501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21457" indent="-610728" lvl="1">
              <a:lnSpc>
                <a:spcPts val="7920"/>
              </a:lnSpc>
              <a:buFont typeface="Arial"/>
              <a:buChar char="•"/>
            </a:pPr>
            <a:r>
              <a:rPr lang="en-US" sz="5657" spc="-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 literacy is essential in today's world </a:t>
            </a:r>
          </a:p>
          <a:p>
            <a:pPr algn="l" marL="1221457" indent="-610728" lvl="1">
              <a:lnSpc>
                <a:spcPts val="7920"/>
              </a:lnSpc>
              <a:buFont typeface="Arial"/>
              <a:buChar char="•"/>
            </a:pPr>
            <a:r>
              <a:rPr lang="en-US" sz="5657" spc="-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Helps us stay safe and responsible online</a:t>
            </a:r>
          </a:p>
          <a:p>
            <a:pPr algn="l" marL="1221457" indent="-610728" lvl="1">
              <a:lnSpc>
                <a:spcPts val="7920"/>
              </a:lnSpc>
              <a:buFont typeface="Arial"/>
              <a:buChar char="•"/>
            </a:pPr>
            <a:r>
              <a:rPr lang="en-US" sz="5657" spc="-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Builds a strong professional image </a:t>
            </a:r>
          </a:p>
          <a:p>
            <a:pPr algn="l" marL="1221457" indent="-610728" lvl="1">
              <a:lnSpc>
                <a:spcPts val="7920"/>
              </a:lnSpc>
              <a:buFont typeface="Arial"/>
              <a:buChar char="•"/>
            </a:pPr>
            <a:r>
              <a:rPr lang="en-US" sz="5657" spc="-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Important for academic and career success</a:t>
            </a:r>
          </a:p>
          <a:p>
            <a:pPr algn="l" marL="1221457" indent="-610728" lvl="1">
              <a:lnSpc>
                <a:spcPts val="7920"/>
              </a:lnSpc>
              <a:buFont typeface="Arial"/>
              <a:buChar char="•"/>
            </a:pPr>
            <a:r>
              <a:rPr lang="en-US" sz="5657" spc="-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Essential for future growth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04077" y="8759190"/>
            <a:ext cx="72110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 smart. Stay safe. Grow digitally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DAHFDKp24xc</dc:identifier>
  <dcterms:modified xsi:type="dcterms:W3CDTF">2011-08-01T06:04:30Z</dcterms:modified>
  <cp:revision>1</cp:revision>
  <dc:title>Digital Literacy</dc:title>
</cp:coreProperties>
</file>